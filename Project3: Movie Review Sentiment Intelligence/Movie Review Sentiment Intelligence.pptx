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5" r:id="rId9"/>
    <p:sldId id="266" r:id="rId10"/>
    <p:sldId id="260" r:id="rId11"/>
    <p:sldId id="267" r:id="rId12"/>
    <p:sldId id="268" r:id="rId13"/>
    <p:sldId id="269" r:id="rId14"/>
    <p:sldId id="270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8E21-5B2C-4979-F1F4-5C6B8ABAE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BC51E-B487-763A-0189-EFAC64C11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D30B-2FE8-A50C-2C63-5EDC7E00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08CE6-963E-6931-1ABC-190FAE03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B740-17B5-C0DF-9BA4-FD965643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7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E7FD-846A-085A-5562-D1141F40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AEE0-FA39-7041-7BC0-166570B51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C873-B5A6-5D4E-72BE-293A4AA3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EF2B-8824-6B0F-C49E-A92BE76A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64AE-187E-D005-A54C-D32C15F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1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7640-546A-DB2E-C9B7-83D0A9DD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7941E-841E-3A39-A219-F21155E91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8045C-A480-5F70-7EA5-E47C2206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75B9C-CA01-2CEE-758A-6F7EE70A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45DAD-B65F-CD18-7ACD-D33EDA21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D5C1-9F83-7421-825A-F7675229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9033-7DE7-5233-3A74-FEDDEA7A1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76B0D-A7E9-0D39-15EE-76C9270DD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442F4-1270-D3C5-AABD-4B652C89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2FD8E-4966-BD93-C461-B114310C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6AF1B-6984-CAAB-1994-E9C57566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B11-81FE-3B0D-C3CE-2A161150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5106B-A58E-E271-2C0B-55D50FAC6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7B754-478F-C3DF-D588-DD1CB72BA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43EA8-A21E-7E4E-54AD-7B568F40C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39326-7121-A6D1-62DF-2520508EA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CCBDA-6A67-B570-8272-12C9729F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6C347-C4B7-9B1C-1802-44595317E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CD1E5-9230-D284-23FC-47494B68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1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4CB7-EC17-88F9-F732-B9A59BCD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03C22-C190-2451-704A-F08AA6BB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FCFC7-151D-58D2-7572-3F8CD63F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8C990-6BF7-98B3-1132-3E45C9BF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3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832B3-098F-B310-CF53-D578C98A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CEB30-17D0-12CF-ABFA-195B99FB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36AC1-5B12-742A-6E76-7EA51609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4CD9-3D0A-96A2-5A0C-9CEAE352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5891C-C2E0-1AE5-ECA5-178645E0A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1B006-E28D-4FBC-D042-AE516689A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986A-B9BB-A437-F353-85D43E8B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D3545-10E0-1C62-8C8A-A690558C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D5A24-DA7A-FFE2-EEC5-29B0525C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5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CBA4-27F1-0253-038F-1D944801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8FF832-0BD0-2EC4-FA82-EEA315C4D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AE001-2945-51C9-B36C-6D1F9D0E9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62102-75AB-7A06-D7A2-E0FAC437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2A6B4-320E-4575-A3E8-9B2C68A3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D3FFC-2C68-8BC3-7C04-04AE25C3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0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7EB7-0BEE-4746-FF77-6F41CCF2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58CBE-F8A6-8F64-4F3C-70CF9389F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D3A24-0490-9645-A9D2-A1F39A53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28289-090E-5526-A26A-4ED7B841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97A46-CE12-5867-4F1A-50489BE7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B1B46-54E8-B2A7-E51D-D3DF38D14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FB586-AF52-6C18-762B-B0AFB9CF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C3E0B-C6B6-A5D8-D8A6-CF8C2FFA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5DAA8-541F-8B00-F2BD-B75ECFF5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BA1C-25D5-CE14-22AE-0FF05DD3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84183-EE4E-F687-98C8-9344A6C1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59735-A028-F7E2-8400-64A7DAE1B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8CE33-9DC7-BD7B-C5D0-55B8D5AE0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78F05-DDB3-44CA-9067-CE0CE0751BC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EF780-0B8C-156C-ABD1-37680205F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525F1-3024-04EF-7468-0BE9E48CC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D7633-5450-4405-87BD-CE66448FF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E539-DD21-94FD-D3D5-5677CEB12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1876425"/>
            <a:ext cx="9144000" cy="22002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Movie Review Sentiment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6FA73-49C0-1FA7-549E-973587197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0601"/>
            <a:ext cx="9144000" cy="185737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Fine-Grained Sentiment &amp; Aspect Extraction Using Transformer-Based NL</a:t>
            </a:r>
          </a:p>
          <a:p>
            <a:endParaRPr lang="en-US" b="1" dirty="0">
              <a:solidFill>
                <a:srgbClr val="C00000"/>
              </a:solidFill>
              <a:latin typeface="Century Gothic (Headings)"/>
            </a:endParaRP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Century Gothic (Headings)"/>
              </a:rPr>
              <a:t>Presented by Serge Nane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90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DBADB-DF5F-94DA-34B4-CBF47F85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Introduction</a:t>
            </a:r>
            <a:endParaRPr lang="en-US" sz="6000" dirty="0">
              <a:solidFill>
                <a:schemeClr val="bg2">
                  <a:lumMod val="25000"/>
                </a:schemeClr>
              </a:solidFill>
              <a:latin typeface="Century Gothic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7B15-1053-EF66-FC9F-D694D4449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entury Gothic (Headings)"/>
              </a:rPr>
              <a:t>Project Overview &amp; Objectives</a:t>
            </a:r>
            <a:endParaRPr lang="en-US" sz="2400" dirty="0">
              <a:solidFill>
                <a:srgbClr val="C00000"/>
              </a:solidFill>
              <a:latin typeface="Century Gothic (Headings)"/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Analyze 50,000 IMDB movie reviews to understand viewer sentiment.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  <a:latin typeface="Century Gothic (Headings)"/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Go beyond simple positive/negative classification to identify key movie aspects (acting, plot, direction …).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  <a:latin typeface="Century Gothic (Headings)"/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Compare traditional ML (Logistic Regression + TF-IDF) with transformer models (BERT).</a:t>
            </a:r>
          </a:p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Century Gothic (Headings)"/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Provide insights useful for studios and streaming platforms.</a:t>
            </a:r>
          </a:p>
          <a:p>
            <a:pPr marL="0" indent="0">
              <a:buNone/>
            </a:pPr>
            <a:endParaRPr lang="en-US" sz="2400" dirty="0">
              <a:latin typeface="Century Gothic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46250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A22C-FE5F-B829-1507-A328180E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20926-7F78-EE8E-C2D7-3B03E5F20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  <a:latin typeface="Century Gothic (Headings)"/>
              </a:rPr>
              <a:t> Dataset</a:t>
            </a:r>
          </a:p>
          <a:p>
            <a:r>
              <a:rPr lang="en-US" sz="2400" dirty="0">
                <a:latin typeface="Century Gothic (Headings)"/>
              </a:rPr>
              <a:t>IMDB Large Movie Review Dataset (50,000 reviews)</a:t>
            </a:r>
          </a:p>
          <a:p>
            <a:r>
              <a:rPr lang="en-US" sz="2400" dirty="0">
                <a:latin typeface="Century Gothic (Headings)"/>
              </a:rPr>
              <a:t>Balanced classes (25,000 positive, 25,000 negative)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b="1" dirty="0">
              <a:latin typeface="Century Gothic (Headings)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  <a:latin typeface="Century Gothic (Headings)"/>
              </a:rPr>
              <a:t> Preprocessing Steps</a:t>
            </a:r>
          </a:p>
          <a:p>
            <a:r>
              <a:rPr lang="en-US" sz="2400" dirty="0">
                <a:latin typeface="Century Gothic (Headings)"/>
              </a:rPr>
              <a:t>Remove HTML tags (e.g., &lt;</a:t>
            </a:r>
            <a:r>
              <a:rPr lang="en-US" sz="2400" dirty="0" err="1">
                <a:latin typeface="Century Gothic (Headings)"/>
              </a:rPr>
              <a:t>br</a:t>
            </a:r>
            <a:r>
              <a:rPr lang="en-US" sz="2400" dirty="0">
                <a:latin typeface="Century Gothic (Headings)"/>
              </a:rPr>
              <a:t> /&gt;) and punctuation</a:t>
            </a:r>
          </a:p>
          <a:p>
            <a:r>
              <a:rPr lang="en-US" sz="2400" dirty="0">
                <a:latin typeface="Century Gothic (Headings)"/>
              </a:rPr>
              <a:t>Convert to lowercase and clean text</a:t>
            </a:r>
          </a:p>
          <a:p>
            <a:r>
              <a:rPr lang="en-US" sz="2400" dirty="0">
                <a:latin typeface="Century Gothic (Headings)"/>
              </a:rPr>
              <a:t>Remove </a:t>
            </a:r>
            <a:r>
              <a:rPr lang="en-US" sz="2400" dirty="0" err="1">
                <a:latin typeface="Century Gothic (Headings)"/>
              </a:rPr>
              <a:t>stopwords</a:t>
            </a:r>
            <a:r>
              <a:rPr lang="en-US" sz="2400" dirty="0">
                <a:latin typeface="Century Gothic (Headings)"/>
              </a:rPr>
              <a:t> and apply lemmatization</a:t>
            </a:r>
          </a:p>
          <a:p>
            <a:r>
              <a:rPr lang="en-US" sz="2400" dirty="0">
                <a:latin typeface="Century Gothic (Headings)"/>
              </a:rPr>
              <a:t>Result: Cleaned text ready for modeling</a:t>
            </a:r>
          </a:p>
          <a:p>
            <a:pPr marL="0" indent="0">
              <a:buNone/>
            </a:pPr>
            <a:endParaRPr lang="en-US" dirty="0">
              <a:latin typeface="Century Gothic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66550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BCEA-F61B-7080-10FD-D7801DD2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5663-38C1-3208-3EB9-A3AF97776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Key Findings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Positive keywords: </a:t>
            </a:r>
            <a:r>
              <a:rPr lang="en-US" sz="2400" i="1" dirty="0">
                <a:solidFill>
                  <a:schemeClr val="bg2">
                    <a:lumMod val="25000"/>
                  </a:schemeClr>
                </a:solidFill>
              </a:rPr>
              <a:t>great, love, excellent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Negative keywords: </a:t>
            </a:r>
            <a:r>
              <a:rPr lang="en-US" sz="2400" i="1" dirty="0">
                <a:solidFill>
                  <a:schemeClr val="bg2">
                    <a:lumMod val="25000"/>
                  </a:schemeClr>
                </a:solidFill>
              </a:rPr>
              <a:t>bad, awful, terrible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Common themes: film, story, character → shared across sentiments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Avg. review length ≈ 118 words; length not predictive of sentiment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7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B68C-CD1A-8BCF-6D87-B756AB37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Visualizations</a:t>
            </a:r>
            <a:endParaRPr lang="en-US" sz="6000" b="1" dirty="0">
              <a:solidFill>
                <a:schemeClr val="bg2">
                  <a:lumMod val="25000"/>
                </a:schemeClr>
              </a:solidFill>
              <a:latin typeface="Century Gothic (Headings)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095AB60-78FA-1073-0F9E-0B6D1636F08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7"/>
            <a:ext cx="6019800" cy="4486275"/>
          </a:xfr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2D7E789-6240-B472-F8B4-8FF816211E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690686"/>
            <a:ext cx="6019799" cy="4486275"/>
          </a:xfrm>
        </p:spPr>
      </p:pic>
    </p:spTree>
    <p:extLst>
      <p:ext uri="{BB962C8B-B14F-4D97-AF65-F5344CB8AC3E}">
        <p14:creationId xmlns:p14="http://schemas.microsoft.com/office/powerpoint/2010/main" val="214077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D141-C95B-202D-E1B6-B65CF8D1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Baseline Model (TF-IDF + Logistic Regression)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1AC5-575D-58E7-F7A3-12C97AC4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2600" b="1" dirty="0">
                <a:solidFill>
                  <a:srgbClr val="C00000"/>
                </a:solidFill>
                <a:latin typeface="Century Gothic (Headings)"/>
              </a:rPr>
              <a:t>Performance</a:t>
            </a:r>
          </a:p>
          <a:p>
            <a:pPr marL="0" indent="0">
              <a:buNone/>
            </a:pPr>
            <a:endParaRPr lang="en-US" sz="2600" dirty="0">
              <a:latin typeface="Century Gothic (Headings)"/>
            </a:endParaRPr>
          </a:p>
          <a:p>
            <a:r>
              <a:rPr lang="en-US" sz="2600" dirty="0">
                <a:latin typeface="Century Gothic (Headings)"/>
              </a:rPr>
              <a:t>Accuracy ≈ </a:t>
            </a:r>
            <a:r>
              <a:rPr lang="en-US" sz="2600" b="1" dirty="0">
                <a:solidFill>
                  <a:srgbClr val="C00000"/>
                </a:solidFill>
                <a:latin typeface="Century Gothic (Headings)"/>
              </a:rPr>
              <a:t>88.9 % | F1 = 0.89</a:t>
            </a:r>
          </a:p>
          <a:p>
            <a:pPr marL="0" indent="0">
              <a:buNone/>
            </a:pPr>
            <a:endParaRPr lang="en-US" sz="2600" dirty="0">
              <a:latin typeface="Century Gothic (Headings)"/>
            </a:endParaRPr>
          </a:p>
          <a:p>
            <a:r>
              <a:rPr lang="en-US" sz="2600" dirty="0">
                <a:latin typeface="Century Gothic (Headings)"/>
              </a:rPr>
              <a:t>Balanced precision &amp; recall</a:t>
            </a:r>
          </a:p>
          <a:p>
            <a:pPr marL="0" indent="0">
              <a:buNone/>
            </a:pPr>
            <a:endParaRPr lang="en-US" sz="2600" dirty="0">
              <a:latin typeface="Century Gothic (Headings)"/>
            </a:endParaRPr>
          </a:p>
          <a:p>
            <a:r>
              <a:rPr lang="en-US" sz="2600" dirty="0">
                <a:latin typeface="Century Gothic (Headings)"/>
              </a:rPr>
              <a:t>Learned clear signals — </a:t>
            </a:r>
            <a:r>
              <a:rPr lang="en-US" sz="2600" b="1" dirty="0">
                <a:solidFill>
                  <a:srgbClr val="C00000"/>
                </a:solidFill>
                <a:latin typeface="Century Gothic (Headings)"/>
              </a:rPr>
              <a:t>“great”, “excellent” vs “worst”, “awful”</a:t>
            </a:r>
          </a:p>
          <a:p>
            <a:pPr marL="0" indent="0">
              <a:buNone/>
            </a:pPr>
            <a:endParaRPr lang="en-US" sz="2600" b="1" dirty="0">
              <a:latin typeface="Century Gothic (Headings)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entury Gothic (Headings)"/>
              </a:rPr>
              <a:t>Takeaway:</a:t>
            </a:r>
            <a:r>
              <a:rPr lang="en-US" sz="2600" dirty="0">
                <a:solidFill>
                  <a:srgbClr val="C00000"/>
                </a:solidFill>
                <a:latin typeface="Century Gothic (Headings)"/>
              </a:rPr>
              <a:t> Strong baseline but limited context awareness.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39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4BED-1FA1-2751-C652-978336C0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Visualizations</a:t>
            </a:r>
            <a:endParaRPr lang="en-US" sz="6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D2E50B-8455-B78E-979A-ACB66E9371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7184"/>
            <a:ext cx="5181600" cy="428822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316A97-697C-57F1-88C3-33D0BB1B56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7184"/>
            <a:ext cx="5181600" cy="4288219"/>
          </a:xfrm>
        </p:spPr>
      </p:pic>
    </p:spTree>
    <p:extLst>
      <p:ext uri="{BB962C8B-B14F-4D97-AF65-F5344CB8AC3E}">
        <p14:creationId xmlns:p14="http://schemas.microsoft.com/office/powerpoint/2010/main" val="221229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6384-F5DA-C340-11E1-AF5A4120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Advanced Model (BERT Transformer)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2010-1AC1-0543-5976-15D3EFD34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Fine-Tuned Model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i="1" dirty="0" err="1">
                <a:solidFill>
                  <a:schemeClr val="bg2">
                    <a:lumMod val="25000"/>
                  </a:schemeClr>
                </a:solidFill>
              </a:rPr>
              <a:t>distilbert</a:t>
            </a:r>
            <a:r>
              <a:rPr lang="en-US" sz="2400" i="1" dirty="0">
                <a:solidFill>
                  <a:schemeClr val="bg2">
                    <a:lumMod val="25000"/>
                  </a:schemeClr>
                </a:solidFill>
              </a:rPr>
              <a:t>-base-uncased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Performance Improvement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Accuracy → </a:t>
            </a:r>
            <a:r>
              <a:rPr lang="en-US" sz="2400" b="1" dirty="0">
                <a:solidFill>
                  <a:srgbClr val="C00000"/>
                </a:solidFill>
              </a:rPr>
              <a:t>91.23 %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rgbClr val="00B050"/>
                </a:solidFill>
              </a:rPr>
              <a:t>(+2.32 % vs baseline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Precision </a:t>
            </a:r>
            <a:r>
              <a:rPr lang="en-US" sz="2400" dirty="0">
                <a:solidFill>
                  <a:srgbClr val="C00000"/>
                </a:solidFill>
              </a:rPr>
              <a:t>91.22 %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| Recall </a:t>
            </a:r>
            <a:r>
              <a:rPr lang="en-US" sz="2400" dirty="0">
                <a:solidFill>
                  <a:srgbClr val="C00000"/>
                </a:solidFill>
              </a:rPr>
              <a:t>91.39 %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| F1 </a:t>
            </a:r>
            <a:r>
              <a:rPr lang="en-US" sz="2400" dirty="0">
                <a:solidFill>
                  <a:srgbClr val="C00000"/>
                </a:solidFill>
              </a:rPr>
              <a:t>91.31 %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Insights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Captures context (sarcasm, negation)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Balanced across classes → production-ready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26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4EE7-8664-3F89-9706-E97D2E01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Visualizations</a:t>
            </a:r>
            <a:endParaRPr lang="en-US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21F482-E76A-077E-46DC-CB8BC8756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159102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0F6A-BC4C-219E-417D-F14C9689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Aspect Extraction (LDA Topics)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FE57BC2D-417E-BBFF-2625-0769CB782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012095"/>
              </p:ext>
            </p:extLst>
          </p:nvPr>
        </p:nvGraphicFramePr>
        <p:xfrm>
          <a:off x="838200" y="2381250"/>
          <a:ext cx="10515600" cy="347662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938126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16389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7524624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Aspect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Example Top Words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</a:rPr>
                        <a:t>% of Reviews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2993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Overall Quality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movie, film, good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94 %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97842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Acting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actor, role, performance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67 %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96644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Plot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story, life, love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61 %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29327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Technical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music, effect, sound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38 %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478146"/>
                  </a:ext>
                </a:extLst>
              </a:tr>
              <a:tr h="57943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Direction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director, scene, camera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35 %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24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49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2550-F6FC-6CB3-0C05-E8FE53A8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Visualizations</a:t>
            </a:r>
            <a:endParaRPr lang="en-US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2AB1CA-F17A-2EF5-031E-0B241F0CA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786" y="1825625"/>
            <a:ext cx="8776427" cy="4351338"/>
          </a:xfrm>
        </p:spPr>
      </p:pic>
    </p:spTree>
    <p:extLst>
      <p:ext uri="{BB962C8B-B14F-4D97-AF65-F5344CB8AC3E}">
        <p14:creationId xmlns:p14="http://schemas.microsoft.com/office/powerpoint/2010/main" val="69741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2461-7137-FB5D-02D8-E7312BEE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Insights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4F81B-5856-6D34-9345-85B7B3581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Key Insights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BERT outperforms traditional models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(+2.32 %)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Acting &amp; plot dominate review content.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Aspect analysis enables targeted feedback for studios.</a:t>
            </a:r>
          </a:p>
          <a:p>
            <a:pPr marL="0" indent="0">
              <a:buNone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Business Impact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Automates review analysis at scale.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Reduces manual effort with &gt; </a:t>
            </a:r>
            <a:r>
              <a:rPr lang="en-US" sz="2400" b="1" dirty="0">
                <a:solidFill>
                  <a:srgbClr val="C00000"/>
                </a:solidFill>
              </a:rPr>
              <a:t>91 %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accuracy.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Supports data-driven decisions on casting &amp; storytelling.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77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C2C9-BB76-2438-C714-6E18B2D3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Ethical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8153-4F45-1C2F-AFF6-85C290F89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Ethical Considerations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Public, anonymized data only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Bias and fairness monitoring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Human-in-loop interpretation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Future Work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Improve sarcasm detection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Extend to multilingual reviews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Real-time dashboard for review monitoring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1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D588-A727-72C1-9E1D-07F13A4C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25000"/>
                  </a:schemeClr>
                </a:solidFill>
                <a:latin typeface="Century Gothic (Headings)"/>
              </a:rPr>
              <a:t>Conclusion</a:t>
            </a:r>
            <a:br>
              <a:rPr lang="en-US" b="1" dirty="0">
                <a:solidFill>
                  <a:schemeClr val="bg2">
                    <a:lumMod val="25000"/>
                  </a:schemeClr>
                </a:solidFill>
              </a:rPr>
            </a:b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E311-C4F0-52F7-048B-8E98A94B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Transformer models achieve state-of-the-art performance.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Fine-grained aspect extraction offers actionable insights.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Framework can generalize to product reviews, music, games …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Accuracy: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91.23 %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|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Impact: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 Smarter audience understanding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2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bg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9DEC1-5C67-EA6F-27A8-EF149B45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86C0A5-2EDF-247B-DAE3-BB38EB1AC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rgbClr val="C00000"/>
                </a:solidFill>
                <a:latin typeface="Century Gothic (Headings)"/>
              </a:rPr>
              <a:t>THANK YOU!</a:t>
            </a:r>
            <a:endParaRPr lang="en-US" sz="6000" b="1" dirty="0">
              <a:solidFill>
                <a:srgbClr val="C00000"/>
              </a:solidFill>
              <a:latin typeface="Century Gothic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90697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465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Century Gothic (Headings)</vt:lpstr>
      <vt:lpstr>Wingdings</vt:lpstr>
      <vt:lpstr>Office Theme</vt:lpstr>
      <vt:lpstr>Movie Review Sentiment Intelligence</vt:lpstr>
      <vt:lpstr>Introduction</vt:lpstr>
      <vt:lpstr>Dataset &amp; Preprocessing</vt:lpstr>
      <vt:lpstr>Exploratory Data Analysis (EDA)</vt:lpstr>
      <vt:lpstr>Visualizations</vt:lpstr>
      <vt:lpstr>Baseline Model (TF-IDF + Logistic Regression)</vt:lpstr>
      <vt:lpstr>Visualizations</vt:lpstr>
      <vt:lpstr>Advanced Model (BERT Transformer)</vt:lpstr>
      <vt:lpstr>Visualizations</vt:lpstr>
      <vt:lpstr>Aspect Extraction (LDA Topics)</vt:lpstr>
      <vt:lpstr>Visualizations</vt:lpstr>
      <vt:lpstr>Insights &amp; Business Impact</vt:lpstr>
      <vt:lpstr>Ethical &amp; Future Work</vt:lpstr>
      <vt:lpstr>Conclusion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 Nane</dc:creator>
  <cp:lastModifiedBy>Serge Nane</cp:lastModifiedBy>
  <cp:revision>7</cp:revision>
  <dcterms:created xsi:type="dcterms:W3CDTF">2025-11-12T21:10:08Z</dcterms:created>
  <dcterms:modified xsi:type="dcterms:W3CDTF">2025-11-13T00:32:30Z</dcterms:modified>
</cp:coreProperties>
</file>